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A2310B3-1A13-4EFE-AB27-28605CF78C6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elc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ulti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ilt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dul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Qa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dul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bri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hni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full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upl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ulti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tur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BC5AE6-30CE-44FD-87BE-C4F83CFC91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core problem: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retail traders have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 access to an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intelligent, agentic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system that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mimics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professional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trading desk.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Current solutions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are either too rigid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 too monolithic.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set out to build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system with true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agent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specialization.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402C9B-665A-45C3-9563-4497A411465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solution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fully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decoupled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three-agent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system: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Master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Router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handles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user input,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Analyst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computes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technical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signals,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Risk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Manager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enforces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compliance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 Together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replicate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professiona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 trading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desk — in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software.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11C4A2-5A64-4C87-917D-F53D4100AE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Three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agents,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three strict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roles.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Router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gatekeeper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it never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analyses.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Analyst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computes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full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technical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picture but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cannot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execute.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Risk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Manager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has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final say —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 either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approves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calculated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targets or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rejects with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hard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HOLD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override.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separation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what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makes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system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reliable.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2C7D9C-5D4E-4491-8623-F35FDB908B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workflow starts with the operator sending a ticker and strategy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the portal. The Router validates and routes, the Analyst fetches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live data and computes indicators, the Risk Manager issues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compliance verdict, the result is persisted to Neon PostgreSQL, 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UI reflects everything in real time.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23DF37-71A8-440C-9FC4-BBC29C45D0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backend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Python FastAPI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OpenAI Agents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SDK powering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multi-agent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orchestration.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SQLAlchemy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handles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ORM layer 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Pydantic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enforces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validation.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frontend is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Bloomberg-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inspired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HTML/JS/Tailwi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nd single-page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dashboard.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Data comes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yfinance,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persistence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Neon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PostgreSQL,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observability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Langfuse,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deployment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Render.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B2C8B7-95CE-4C06-B0C5-0DCDC3B04A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backend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Python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FastAPI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OpenAI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Agents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SDK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powering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multi-agent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orchestrati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SQLAlche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my handles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ORM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layer 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Pydantic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enforces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validation.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frontend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Bloomberg-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inspired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HTML/JS/T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ailwind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single-page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dashboard.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Data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yfinance,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persistence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Neon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PostgreSQ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observabilit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from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Langfuse,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deployment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Render.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B3C380-EE1E-4256-B69D-0177893A76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ind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ica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ck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dir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ect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fts,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AP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titu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ce.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egi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ort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nu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alp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18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siti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ea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its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ow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loo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kb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rio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bo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C811C9-ABD5-4849-B889-EFD7DCB254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frontend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intentionall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y minimal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— its job is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surface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agent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intelligence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not to be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product. It's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Bloomberg-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inspired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dark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dashboard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with a live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SVG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candlestick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chart,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quick-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select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asset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badges,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and a real-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time agent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output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panel.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backend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does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heavy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lifting;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UI just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makes it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accessible.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65352B-635E-4926-AB68-7F2B852A7B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Deploymen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 is 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Render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using a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standard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ASGI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setup.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build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command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installs all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dependenci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es,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start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command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launches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Uvicorn 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Render's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dynamic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PORT.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key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engineerin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g challenge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is the free-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tier cold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start — our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idempotent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transaction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-isolated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startup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migration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handles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this reliably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on every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boot.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7B2CF0-3D96-4881-B5C2-58CC917FF2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Thank you for your time and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attention. We are now ready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to address your questions.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We welcome any technical or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conceptual questions about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our multi-agent architecture,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indicator logic, deployment, or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academic contributions.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1571C4-C174-4522-AD87-3E2BCE4581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292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5088600"/>
            <a:ext cx="914292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685800" y="502920"/>
            <a:ext cx="7771320" cy="41594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685800" y="502920"/>
            <a:ext cx="63000" cy="4159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3108960" y="749880"/>
            <a:ext cx="2925000" cy="254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108960" y="7498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BSCS (R) FINAL YEAR PROJECT (2022-26)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914400" y="1332720"/>
            <a:ext cx="74055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38bdf8"/>
                </a:solidFill>
                <a:latin typeface="Segoe UI"/>
                <a:ea typeface="Segoe UI"/>
              </a:rPr>
              <a:t>Automated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914400" y="2309400"/>
            <a:ext cx="74055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e2e8f0"/>
                </a:solidFill>
                <a:latin typeface="Segoe UI"/>
                <a:ea typeface="Segoe UI"/>
              </a:rPr>
              <a:t>Multi-Agentic Trading System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914400" y="2866680"/>
            <a:ext cx="7405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4a3b8"/>
                </a:solidFill>
                <a:latin typeface="Segoe UI"/>
                <a:ea typeface="Segoe UI"/>
              </a:rPr>
              <a:t>OpenAI Agents SDK · Neon PostgreSQL · Langfuse Telemetry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2743200" y="3215160"/>
            <a:ext cx="365652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914400" y="3766680"/>
            <a:ext cx="7405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8f0"/>
                </a:solidFill>
                <a:latin typeface="Segoe UI"/>
                <a:ea typeface="Segoe UI"/>
              </a:rPr>
              <a:t>Ahmad Abdullah (COMPF22BSR43)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8f0"/>
                </a:solidFill>
                <a:latin typeface="Segoe UI"/>
                <a:ea typeface="Segoe UI"/>
              </a:rPr>
              <a:t>Abdul Qadeer Khan (COMPF22BSR47)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8f0"/>
                </a:solidFill>
                <a:latin typeface="Segoe UI"/>
                <a:ea typeface="Segoe UI"/>
              </a:rPr>
              <a:t>Faisal Rehman (COMPF22BSR29)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914400" y="4177080"/>
            <a:ext cx="7405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4a3b8"/>
                </a:solidFill>
                <a:latin typeface="Segoe UI"/>
                <a:ea typeface="Segoe UI"/>
              </a:rPr>
              <a:t>Department of Computer Science &amp; Information Technology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Problem Statement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365760" y="749880"/>
            <a:ext cx="8411400" cy="41594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65760" y="749880"/>
            <a:ext cx="63000" cy="4159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548640" y="914400"/>
            <a:ext cx="1553400" cy="254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548640" y="914400"/>
            <a:ext cx="1553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THE CHALLENGE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594360" y="1298520"/>
            <a:ext cx="7862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97316"/>
                </a:solidFill>
                <a:latin typeface="Segoe UI"/>
                <a:ea typeface="Segoe UI"/>
              </a:rPr>
              <a:t>No intelligent, agentic technical analyst exists for retail traders.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594360" y="1801440"/>
            <a:ext cx="786276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94360" y="1901880"/>
            <a:ext cx="7862760" cy="28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Segoe UI"/>
                <a:ea typeface="Segoe UI"/>
              </a:rPr>
              <a:t>Retail traders lack access to institutional-grade technical analysis tools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Segoe UI"/>
                <a:ea typeface="Segoe UI"/>
              </a:rPr>
              <a:t>Existing trading bots are either rigid rule-based scripts or single monolithic AI prompts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Segoe UI"/>
                <a:ea typeface="Segoe UI"/>
              </a:rPr>
              <a:t>A single AI prompt handling all trading logic creates context contamination: the analyst role, risk role, and routing role interfere with each other.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Segoe UI"/>
                <a:ea typeface="Segoe UI"/>
              </a:rPr>
              <a:t>There is no system that behaves like a real trading desk with specialized agents for analysis, compliance, and routing working independently.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e2e8f0"/>
                </a:solidFill>
                <a:latin typeface="Segoe UI"/>
                <a:ea typeface="Segoe UI"/>
              </a:rPr>
              <a:t>Without automated risk guardrails, retail traders have no structured enforcement mechanism to prevent overexposure or emotional trading decisions.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Our Solution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365760" y="749880"/>
            <a:ext cx="8411400" cy="1233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365760" y="749880"/>
            <a:ext cx="63000" cy="1233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594360" y="887040"/>
            <a:ext cx="7954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0b981"/>
                </a:solidFill>
                <a:latin typeface="Segoe UI"/>
                <a:ea typeface="Segoe UI"/>
              </a:rPr>
              <a:t>Automated Multi-Agentic Trading System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594360" y="1389960"/>
            <a:ext cx="7954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4a3b8"/>
                </a:solidFill>
                <a:latin typeface="Segoe UI"/>
                <a:ea typeface="Segoe UI"/>
              </a:rPr>
              <a:t>A decoupled, asynchronous multi-agent portal that acts as your personal AI trading desk.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274320" y="2103120"/>
            <a:ext cx="2787840" cy="27604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274320" y="2103120"/>
            <a:ext cx="63000" cy="2760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438840" y="2231280"/>
            <a:ext cx="2513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Segoe UI"/>
                <a:ea typeface="Segoe UI"/>
              </a:rPr>
              <a:t>Specialist Agents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438840" y="2615040"/>
            <a:ext cx="248616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438840" y="2706480"/>
            <a:ext cx="25135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Three purpose-built agents Market Analyst, Risk Manager  each with a single bounded responsibility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No agent contaminates another's context true sandboxed execution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3246120" y="2103120"/>
            <a:ext cx="2787840" cy="27604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2"/>
          <p:cNvSpPr/>
          <p:nvPr/>
        </p:nvSpPr>
        <p:spPr>
          <a:xfrm>
            <a:off x="3246120" y="2103120"/>
            <a:ext cx="63000" cy="276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3410640" y="2231280"/>
            <a:ext cx="2513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0b981"/>
                </a:solidFill>
                <a:latin typeface="Segoe UI"/>
                <a:ea typeface="Segoe UI"/>
              </a:rPr>
              <a:t>Real Analysis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3410640" y="2615040"/>
            <a:ext cx="248616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3410640" y="2706480"/>
            <a:ext cx="25135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Live yfinance data feed with RSI, EMA, MACD, and SMA computed in real 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Outputs actionable signals: entry price, stop loss, take profit targets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6217920" y="2103120"/>
            <a:ext cx="2787840" cy="27604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6217920" y="2103120"/>
            <a:ext cx="63000" cy="2760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6382440" y="2231280"/>
            <a:ext cx="2513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97316"/>
                </a:solidFill>
                <a:latin typeface="Segoe UI"/>
                <a:ea typeface="Segoe UI"/>
              </a:rPr>
              <a:t>Risk Guardrails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6382440" y="2615040"/>
            <a:ext cx="248616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6382440" y="2706480"/>
            <a:ext cx="251352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Automated APPROVED / REJECTED compliance verdict on every trade proposal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Hard override to HOLD + 0% position sizing on rejection capital is preserved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Basic Idea: How the Agents Work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228600" y="749880"/>
            <a:ext cx="278784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1344240" y="877680"/>
            <a:ext cx="565920" cy="565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1344240" y="87768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0f17"/>
                </a:solidFill>
                <a:latin typeface="Segoe UI"/>
                <a:ea typeface="Segoe UI"/>
              </a:rPr>
              <a:t>01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356760" y="1536120"/>
            <a:ext cx="2531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38bdf8"/>
                </a:solidFill>
                <a:latin typeface="Segoe UI"/>
                <a:ea typeface="Segoe UI"/>
              </a:rPr>
              <a:t>Master Trading Desk Manager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356760" y="1993320"/>
            <a:ext cx="253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Orchestrator &amp; Gateway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356760" y="2286000"/>
            <a:ext cx="251352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8"/>
          <p:cNvSpPr/>
          <p:nvPr/>
        </p:nvSpPr>
        <p:spPr>
          <a:xfrm>
            <a:off x="356760" y="2377440"/>
            <a:ext cx="253188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First contact point receives raw user intent from the portal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Validates and standardizes ticker symbols (AAPL, BTC-USD)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Locks in asset identity + timeframe before anything moves forward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Routes the confirmed request downstream no analysis here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3200400" y="749880"/>
            <a:ext cx="278784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0"/>
          <p:cNvSpPr/>
          <p:nvPr/>
        </p:nvSpPr>
        <p:spPr>
          <a:xfrm>
            <a:off x="4316040" y="877680"/>
            <a:ext cx="565920" cy="565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4316040" y="87768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0f17"/>
                </a:solidFill>
                <a:latin typeface="Segoe UI"/>
                <a:ea typeface="Segoe UI"/>
              </a:rPr>
              <a:t>02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2"/>
          <p:cNvSpPr/>
          <p:nvPr/>
        </p:nvSpPr>
        <p:spPr>
          <a:xfrm>
            <a:off x="3328560" y="1536120"/>
            <a:ext cx="2531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0b981"/>
                </a:solidFill>
                <a:latin typeface="Segoe UI"/>
                <a:ea typeface="Segoe UI"/>
              </a:rPr>
              <a:t>Market Analyst Agent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3328560" y="1993320"/>
            <a:ext cx="253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Quantitative Signal Engine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4"/>
          <p:cNvSpPr/>
          <p:nvPr/>
        </p:nvSpPr>
        <p:spPr>
          <a:xfrm>
            <a:off x="3328560" y="2286000"/>
            <a:ext cx="251352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3328560" y="2377440"/>
            <a:ext cx="253188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Consumes live OHLCV data from yfinance for the locked ticker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Computes RSI, EMA (9/21/50/200), MACD, SMA indicator matrix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Outputs a structured signal: trend, momentum, support/resistance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Zero execution authority analysis only, never issues buy/sell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6172200" y="749880"/>
            <a:ext cx="278784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7"/>
          <p:cNvSpPr/>
          <p:nvPr/>
        </p:nvSpPr>
        <p:spPr>
          <a:xfrm>
            <a:off x="7287840" y="877680"/>
            <a:ext cx="565920" cy="565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7287840" y="87768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b0f17"/>
                </a:solidFill>
                <a:latin typeface="Segoe UI"/>
                <a:ea typeface="Segoe UI"/>
              </a:rPr>
              <a:t>03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9"/>
          <p:cNvSpPr/>
          <p:nvPr/>
        </p:nvSpPr>
        <p:spPr>
          <a:xfrm>
            <a:off x="6300360" y="1536120"/>
            <a:ext cx="25318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97316"/>
                </a:solidFill>
                <a:latin typeface="Segoe UI"/>
                <a:ea typeface="Segoe UI"/>
              </a:rPr>
              <a:t>Risk Manager Agent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6300360" y="1993320"/>
            <a:ext cx="25318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Compliance Auditor &amp; Final Gate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1"/>
          <p:cNvSpPr/>
          <p:nvPr/>
        </p:nvSpPr>
        <p:spPr>
          <a:xfrm>
            <a:off x="6300360" y="2286000"/>
            <a:ext cx="251352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2"/>
          <p:cNvSpPr/>
          <p:nvPr/>
        </p:nvSpPr>
        <p:spPr>
          <a:xfrm>
            <a:off x="6300360" y="2377440"/>
            <a:ext cx="2531880" cy="25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Receives the analyst signal and audits it against safety thresholds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Calculates precise stop-loss and take-profit math for the strategy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Issues a hard APPROVED or REJECTED verdict no grey area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On REJECTED: forces HOLD + 0% position sizing override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System Workflow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274320" y="749880"/>
            <a:ext cx="5028120" cy="425088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365760" y="822960"/>
            <a:ext cx="484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94a3b8"/>
                </a:solidFill>
                <a:latin typeface="Segoe UI"/>
                <a:ea typeface="Segoe UI"/>
              </a:rPr>
              <a:t>AGENT ORCHESTRATION DIAGRAM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0" descr="/mnt/user-data/uploads/WhatsApp_Image_2026-06-01_at_1_43_37_AM.jpeg"/>
          <p:cNvPicPr/>
          <p:nvPr/>
        </p:nvPicPr>
        <p:blipFill>
          <a:blip r:embed="rId1"/>
          <a:stretch/>
        </p:blipFill>
        <p:spPr>
          <a:xfrm>
            <a:off x="365760" y="1097280"/>
            <a:ext cx="4753800" cy="3747960"/>
          </a:xfrm>
          <a:prstGeom prst="rect">
            <a:avLst/>
          </a:prstGeom>
          <a:ln w="0">
            <a:noFill/>
          </a:ln>
        </p:spPr>
      </p:pic>
      <p:sp>
        <p:nvSpPr>
          <p:cNvPr id="78" name="Shape 4"/>
          <p:cNvSpPr/>
          <p:nvPr/>
        </p:nvSpPr>
        <p:spPr>
          <a:xfrm>
            <a:off x="5486400" y="749880"/>
            <a:ext cx="333648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5"/>
          <p:cNvSpPr/>
          <p:nvPr/>
        </p:nvSpPr>
        <p:spPr>
          <a:xfrm>
            <a:off x="5486400" y="749880"/>
            <a:ext cx="63000" cy="4250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5687640" y="877680"/>
            <a:ext cx="292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Segoe UI"/>
                <a:ea typeface="Segoe UI"/>
              </a:rPr>
              <a:t>Data Flow Steps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5650920" y="1334880"/>
            <a:ext cx="309960" cy="3099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5650920" y="1334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0f17"/>
                </a:solidFill>
                <a:latin typeface="Segoe UI"/>
                <a:ea typeface="Segoe UI"/>
              </a:rPr>
              <a:t>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6053400" y="1325880"/>
            <a:ext cx="2604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User Input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6053400" y="1536120"/>
            <a:ext cx="2604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Operator sends ticker + Time-frame 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1"/>
          <p:cNvSpPr/>
          <p:nvPr/>
        </p:nvSpPr>
        <p:spPr>
          <a:xfrm>
            <a:off x="5650920" y="1901880"/>
            <a:ext cx="309960" cy="3099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5650920" y="1901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0f17"/>
                </a:solidFill>
                <a:latin typeface="Segoe UI"/>
                <a:ea typeface="Segoe UI"/>
              </a:rPr>
              <a:t>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6053400" y="1892880"/>
            <a:ext cx="2604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Router Validates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6053400" y="2103120"/>
            <a:ext cx="2604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Master Desk locks parameters, routes downstream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5650920" y="2468880"/>
            <a:ext cx="309960" cy="309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6"/>
          <p:cNvSpPr/>
          <p:nvPr/>
        </p:nvSpPr>
        <p:spPr>
          <a:xfrm>
            <a:off x="5650920" y="2468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0f17"/>
                </a:solidFill>
                <a:latin typeface="Segoe UI"/>
                <a:ea typeface="Segoe UI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6053400" y="2459880"/>
            <a:ext cx="2604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Segoe UI"/>
                <a:ea typeface="Segoe UI"/>
              </a:rPr>
              <a:t>Analyst Computes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8"/>
          <p:cNvSpPr/>
          <p:nvPr/>
        </p:nvSpPr>
        <p:spPr>
          <a:xfrm>
            <a:off x="6053400" y="2670120"/>
            <a:ext cx="26049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Fetches Candle, runs RSI/EMA/MACD matrix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5650920" y="3035880"/>
            <a:ext cx="309960" cy="309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20"/>
          <p:cNvSpPr/>
          <p:nvPr/>
        </p:nvSpPr>
        <p:spPr>
          <a:xfrm>
            <a:off x="5650920" y="3035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0f17"/>
                </a:solidFill>
                <a:latin typeface="Segoe UI"/>
                <a:ea typeface="Segoe UI"/>
              </a:rPr>
              <a:t>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1"/>
          <p:cNvSpPr/>
          <p:nvPr/>
        </p:nvSpPr>
        <p:spPr>
          <a:xfrm>
            <a:off x="6053400" y="3026520"/>
            <a:ext cx="2604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97316"/>
                </a:solidFill>
                <a:latin typeface="Segoe UI"/>
                <a:ea typeface="Segoe UI"/>
              </a:rPr>
              <a:t>Risk Audits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2"/>
          <p:cNvSpPr/>
          <p:nvPr/>
        </p:nvSpPr>
        <p:spPr>
          <a:xfrm>
            <a:off x="6053400" y="3237120"/>
            <a:ext cx="2604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Compliance check → APPROVED or REJECTED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5650920" y="3602880"/>
            <a:ext cx="309960" cy="3099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4"/>
          <p:cNvSpPr/>
          <p:nvPr/>
        </p:nvSpPr>
        <p:spPr>
          <a:xfrm>
            <a:off x="5650920" y="36028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0f17"/>
                </a:solidFill>
                <a:latin typeface="Segoe UI"/>
                <a:ea typeface="Segoe UI"/>
              </a:rPr>
              <a:t>5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5"/>
          <p:cNvSpPr/>
          <p:nvPr/>
        </p:nvSpPr>
        <p:spPr>
          <a:xfrm>
            <a:off x="6053400" y="3593520"/>
            <a:ext cx="2604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Segoe UI"/>
                <a:ea typeface="Segoe UI"/>
              </a:rPr>
              <a:t>DB Persists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6"/>
          <p:cNvSpPr/>
          <p:nvPr/>
        </p:nvSpPr>
        <p:spPr>
          <a:xfrm>
            <a:off x="6053400" y="3803760"/>
            <a:ext cx="2604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Decision + trade log saved to Neon PostgreSQL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7"/>
          <p:cNvSpPr/>
          <p:nvPr/>
        </p:nvSpPr>
        <p:spPr>
          <a:xfrm>
            <a:off x="5650920" y="4169520"/>
            <a:ext cx="309960" cy="30996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8"/>
          <p:cNvSpPr/>
          <p:nvPr/>
        </p:nvSpPr>
        <p:spPr>
          <a:xfrm>
            <a:off x="5650920" y="416952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b0f17"/>
                </a:solidFill>
                <a:latin typeface="Segoe UI"/>
                <a:ea typeface="Segoe UI"/>
              </a:rPr>
              <a:t>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29"/>
          <p:cNvSpPr/>
          <p:nvPr/>
        </p:nvSpPr>
        <p:spPr>
          <a:xfrm>
            <a:off x="6053400" y="4160520"/>
            <a:ext cx="26049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2e8f0"/>
                </a:solidFill>
                <a:latin typeface="Segoe UI"/>
                <a:ea typeface="Segoe UI"/>
              </a:rPr>
              <a:t>UI Updates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0"/>
          <p:cNvSpPr/>
          <p:nvPr/>
        </p:nvSpPr>
        <p:spPr>
          <a:xfrm>
            <a:off x="6053400" y="4370760"/>
            <a:ext cx="2604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Portal reflects verdict, chart, and signals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Tech Stack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228600" y="749880"/>
            <a:ext cx="278784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228600" y="749880"/>
            <a:ext cx="63000" cy="4250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393120" y="896040"/>
            <a:ext cx="1370520" cy="254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393120" y="896040"/>
            <a:ext cx="1370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BACKEND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393120" y="12985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484560" y="13626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bdf8"/>
                </a:solidFill>
                <a:latin typeface="Segoe UI"/>
                <a:ea typeface="Segoe UI"/>
              </a:rPr>
              <a:t>Python 3.12 + FastAPI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484560" y="16369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ASGI web server, route handlers, dependency injection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393120" y="22129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484560" y="22770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bdf8"/>
                </a:solidFill>
                <a:latin typeface="Segoe UI"/>
                <a:ea typeface="Segoe UI"/>
              </a:rPr>
              <a:t>OpenAI Agents SDK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484560" y="25513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Multi-agent orchestration, tool binding, handoffs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393120" y="31273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484560" y="31914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bdf8"/>
                </a:solidFill>
                <a:latin typeface="Segoe UI"/>
                <a:ea typeface="Segoe UI"/>
              </a:rPr>
              <a:t>SQLAlchemy ORM + Pydantic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484560" y="34657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Database models, validation schemas, type safety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393120" y="40417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484560" y="41058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8bdf8"/>
                </a:solidFill>
                <a:latin typeface="Segoe UI"/>
                <a:ea typeface="Segoe UI"/>
              </a:rPr>
              <a:t>passlib[bcrypt] + uv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484560" y="43801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Password hashing, fast dependency management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8"/>
          <p:cNvSpPr/>
          <p:nvPr/>
        </p:nvSpPr>
        <p:spPr>
          <a:xfrm>
            <a:off x="3200400" y="749880"/>
            <a:ext cx="278784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9"/>
          <p:cNvSpPr/>
          <p:nvPr/>
        </p:nvSpPr>
        <p:spPr>
          <a:xfrm>
            <a:off x="3200400" y="749880"/>
            <a:ext cx="63000" cy="4250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3364920" y="896040"/>
            <a:ext cx="1370520" cy="254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3364920" y="896040"/>
            <a:ext cx="1370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FRONTEND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22"/>
          <p:cNvSpPr/>
          <p:nvPr/>
        </p:nvSpPr>
        <p:spPr>
          <a:xfrm>
            <a:off x="3364920" y="12985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3"/>
          <p:cNvSpPr/>
          <p:nvPr/>
        </p:nvSpPr>
        <p:spPr>
          <a:xfrm>
            <a:off x="3456360" y="13626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b981"/>
                </a:solidFill>
                <a:latin typeface="Segoe UI"/>
                <a:ea typeface="Segoe UI"/>
              </a:rPr>
              <a:t>HTML5 + JavaScript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3456360" y="16369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Single-page operator dashboard, event-driven UI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5"/>
          <p:cNvSpPr/>
          <p:nvPr/>
        </p:nvSpPr>
        <p:spPr>
          <a:xfrm>
            <a:off x="3364920" y="22129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6"/>
          <p:cNvSpPr/>
          <p:nvPr/>
        </p:nvSpPr>
        <p:spPr>
          <a:xfrm>
            <a:off x="3456360" y="22770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b981"/>
                </a:solidFill>
                <a:latin typeface="Segoe UI"/>
                <a:ea typeface="Segoe UI"/>
              </a:rPr>
              <a:t>Tailwind CSS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7"/>
          <p:cNvSpPr/>
          <p:nvPr/>
        </p:nvSpPr>
        <p:spPr>
          <a:xfrm>
            <a:off x="3456360" y="25513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Bloomberg-inspired dark utilitarian styling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28"/>
          <p:cNvSpPr/>
          <p:nvPr/>
        </p:nvSpPr>
        <p:spPr>
          <a:xfrm>
            <a:off x="3364920" y="31273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9"/>
          <p:cNvSpPr/>
          <p:nvPr/>
        </p:nvSpPr>
        <p:spPr>
          <a:xfrm>
            <a:off x="3456360" y="31914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0b981"/>
                </a:solidFill>
                <a:latin typeface="Segoe UI"/>
                <a:ea typeface="Segoe UI"/>
              </a:rPr>
              <a:t>SVG Candlestick Chart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30"/>
          <p:cNvSpPr/>
          <p:nvPr/>
        </p:nvSpPr>
        <p:spPr>
          <a:xfrm>
            <a:off x="3456360" y="34657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Custom real-time chart with 10-second polling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31"/>
          <p:cNvSpPr/>
          <p:nvPr/>
        </p:nvSpPr>
        <p:spPr>
          <a:xfrm>
            <a:off x="6172200" y="749880"/>
            <a:ext cx="2787840" cy="425088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32"/>
          <p:cNvSpPr/>
          <p:nvPr/>
        </p:nvSpPr>
        <p:spPr>
          <a:xfrm>
            <a:off x="6172200" y="749880"/>
            <a:ext cx="63000" cy="4250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33"/>
          <p:cNvSpPr/>
          <p:nvPr/>
        </p:nvSpPr>
        <p:spPr>
          <a:xfrm>
            <a:off x="6336720" y="896040"/>
            <a:ext cx="1370520" cy="254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4"/>
          <p:cNvSpPr/>
          <p:nvPr/>
        </p:nvSpPr>
        <p:spPr>
          <a:xfrm>
            <a:off x="6336720" y="896040"/>
            <a:ext cx="1370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DATA &amp; INFRA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5"/>
          <p:cNvSpPr/>
          <p:nvPr/>
        </p:nvSpPr>
        <p:spPr>
          <a:xfrm>
            <a:off x="6336720" y="12985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36"/>
          <p:cNvSpPr/>
          <p:nvPr/>
        </p:nvSpPr>
        <p:spPr>
          <a:xfrm>
            <a:off x="6428160" y="13626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97316"/>
                </a:solidFill>
                <a:latin typeface="Segoe UI"/>
                <a:ea typeface="Segoe UI"/>
              </a:rPr>
              <a:t>yfinance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37"/>
          <p:cNvSpPr/>
          <p:nvPr/>
        </p:nvSpPr>
        <p:spPr>
          <a:xfrm>
            <a:off x="6428160" y="16369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Live OHLCV market data: stocks and crypto tickers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38"/>
          <p:cNvSpPr/>
          <p:nvPr/>
        </p:nvSpPr>
        <p:spPr>
          <a:xfrm>
            <a:off x="6336720" y="22129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9"/>
          <p:cNvSpPr/>
          <p:nvPr/>
        </p:nvSpPr>
        <p:spPr>
          <a:xfrm>
            <a:off x="6428160" y="22770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97316"/>
                </a:solidFill>
                <a:latin typeface="Segoe UI"/>
                <a:ea typeface="Segoe UI"/>
              </a:rPr>
              <a:t>Neon PostgreSQL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40"/>
          <p:cNvSpPr/>
          <p:nvPr/>
        </p:nvSpPr>
        <p:spPr>
          <a:xfrm>
            <a:off x="6428160" y="25513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Serverless cloud DB — users, trade logs, audit trail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41"/>
          <p:cNvSpPr/>
          <p:nvPr/>
        </p:nvSpPr>
        <p:spPr>
          <a:xfrm>
            <a:off x="6336720" y="31273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2"/>
          <p:cNvSpPr/>
          <p:nvPr/>
        </p:nvSpPr>
        <p:spPr>
          <a:xfrm>
            <a:off x="6428160" y="31914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97316"/>
                </a:solidFill>
                <a:latin typeface="Segoe UI"/>
                <a:ea typeface="Segoe UI"/>
              </a:rPr>
              <a:t>Langfuse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43"/>
          <p:cNvSpPr/>
          <p:nvPr/>
        </p:nvSpPr>
        <p:spPr>
          <a:xfrm>
            <a:off x="6428160" y="34657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Distributed tracing, token usage, agent latency SLAs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Shape 44"/>
          <p:cNvSpPr/>
          <p:nvPr/>
        </p:nvSpPr>
        <p:spPr>
          <a:xfrm>
            <a:off x="6336720" y="4041720"/>
            <a:ext cx="2486160" cy="7761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5"/>
          <p:cNvSpPr/>
          <p:nvPr/>
        </p:nvSpPr>
        <p:spPr>
          <a:xfrm>
            <a:off x="6428160" y="4105800"/>
            <a:ext cx="2303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97316"/>
                </a:solidFill>
                <a:latin typeface="Segoe UI"/>
                <a:ea typeface="Segoe UI"/>
              </a:rPr>
              <a:t>Render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46"/>
          <p:cNvSpPr/>
          <p:nvPr/>
        </p:nvSpPr>
        <p:spPr>
          <a:xfrm>
            <a:off x="6428160" y="4380120"/>
            <a:ext cx="2303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Cloud deployment — zero-config ASGI hosting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51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Observability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42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5"/>
          <p:cNvSpPr/>
          <p:nvPr/>
        </p:nvSpPr>
        <p:spPr>
          <a:xfrm>
            <a:off x="2676600" y="713880"/>
            <a:ext cx="63000" cy="4250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58"/>
          <p:cNvSpPr/>
          <p:nvPr/>
        </p:nvSpPr>
        <p:spPr>
          <a:xfrm>
            <a:off x="5827680" y="721800"/>
            <a:ext cx="63000" cy="4250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2743200" y="694440"/>
            <a:ext cx="3078720" cy="433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Key Terminologies &amp; Strategy Indicators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274320" y="822960"/>
            <a:ext cx="4205160" cy="657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274320" y="822960"/>
            <a:ext cx="6300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4"/>
          <p:cNvSpPr/>
          <p:nvPr/>
        </p:nvSpPr>
        <p:spPr>
          <a:xfrm>
            <a:off x="438840" y="87768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RSI (14)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5"/>
          <p:cNvSpPr/>
          <p:nvPr/>
        </p:nvSpPr>
        <p:spPr>
          <a:xfrm>
            <a:off x="438840" y="1115640"/>
            <a:ext cx="3839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Relative Strength Index — momentum oscillator 0–100. Above 70 = overbought, below 30 = oversold.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6"/>
          <p:cNvSpPr/>
          <p:nvPr/>
        </p:nvSpPr>
        <p:spPr>
          <a:xfrm>
            <a:off x="4709160" y="822960"/>
            <a:ext cx="4205160" cy="657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7"/>
          <p:cNvSpPr/>
          <p:nvPr/>
        </p:nvSpPr>
        <p:spPr>
          <a:xfrm>
            <a:off x="4709160" y="822960"/>
            <a:ext cx="6300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8"/>
          <p:cNvSpPr/>
          <p:nvPr/>
        </p:nvSpPr>
        <p:spPr>
          <a:xfrm>
            <a:off x="4873680" y="87768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EMA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9"/>
          <p:cNvSpPr/>
          <p:nvPr/>
        </p:nvSpPr>
        <p:spPr>
          <a:xfrm>
            <a:off x="4873680" y="1115640"/>
            <a:ext cx="3839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Exponential Moving Average — price trend tracker that weights recent data more heavily than older data.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274320" y="1572840"/>
            <a:ext cx="4205160" cy="657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1"/>
          <p:cNvSpPr/>
          <p:nvPr/>
        </p:nvSpPr>
        <p:spPr>
          <a:xfrm>
            <a:off x="274320" y="1572840"/>
            <a:ext cx="6300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2"/>
          <p:cNvSpPr/>
          <p:nvPr/>
        </p:nvSpPr>
        <p:spPr>
          <a:xfrm>
            <a:off x="438840" y="162756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MACD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3"/>
          <p:cNvSpPr/>
          <p:nvPr/>
        </p:nvSpPr>
        <p:spPr>
          <a:xfrm>
            <a:off x="438840" y="1865520"/>
            <a:ext cx="3839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Moving Average Convergence Divergence — trend-following momentum indicator showing signal crossovers.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4"/>
          <p:cNvSpPr/>
          <p:nvPr/>
        </p:nvSpPr>
        <p:spPr>
          <a:xfrm>
            <a:off x="4709160" y="1572840"/>
            <a:ext cx="4205160" cy="657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5"/>
          <p:cNvSpPr/>
          <p:nvPr/>
        </p:nvSpPr>
        <p:spPr>
          <a:xfrm>
            <a:off x="4709160" y="1572840"/>
            <a:ext cx="6300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6"/>
          <p:cNvSpPr/>
          <p:nvPr/>
        </p:nvSpPr>
        <p:spPr>
          <a:xfrm>
            <a:off x="4873680" y="162756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SMA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7"/>
          <p:cNvSpPr/>
          <p:nvPr/>
        </p:nvSpPr>
        <p:spPr>
          <a:xfrm>
            <a:off x="4873680" y="1865520"/>
            <a:ext cx="3839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Provides the Average price of stock in the particular time frame.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8"/>
          <p:cNvSpPr/>
          <p:nvPr/>
        </p:nvSpPr>
        <p:spPr>
          <a:xfrm>
            <a:off x="274320" y="2322720"/>
            <a:ext cx="4205160" cy="657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9"/>
          <p:cNvSpPr/>
          <p:nvPr/>
        </p:nvSpPr>
        <p:spPr>
          <a:xfrm>
            <a:off x="274320" y="2322720"/>
            <a:ext cx="6300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20"/>
          <p:cNvSpPr/>
          <p:nvPr/>
        </p:nvSpPr>
        <p:spPr>
          <a:xfrm>
            <a:off x="438840" y="237744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Stop Loss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1"/>
          <p:cNvSpPr/>
          <p:nvPr/>
        </p:nvSpPr>
        <p:spPr>
          <a:xfrm>
            <a:off x="438840" y="2615040"/>
            <a:ext cx="3839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Maximum loss threshold — if price drops to this level, exit the trade to preserve capital.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22"/>
          <p:cNvSpPr/>
          <p:nvPr/>
        </p:nvSpPr>
        <p:spPr>
          <a:xfrm>
            <a:off x="4709160" y="2322720"/>
            <a:ext cx="4205160" cy="65736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3"/>
          <p:cNvSpPr/>
          <p:nvPr/>
        </p:nvSpPr>
        <p:spPr>
          <a:xfrm>
            <a:off x="4709160" y="2322720"/>
            <a:ext cx="63000" cy="65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24"/>
          <p:cNvSpPr/>
          <p:nvPr/>
        </p:nvSpPr>
        <p:spPr>
          <a:xfrm>
            <a:off x="4873680" y="237744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Take Profit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5"/>
          <p:cNvSpPr/>
          <p:nvPr/>
        </p:nvSpPr>
        <p:spPr>
          <a:xfrm>
            <a:off x="4873680" y="2615040"/>
            <a:ext cx="3839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Target gain exit — lock in profit when price reaches this level before the move reverses.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26"/>
          <p:cNvSpPr/>
          <p:nvPr/>
        </p:nvSpPr>
        <p:spPr>
          <a:xfrm>
            <a:off x="274320" y="3127320"/>
            <a:ext cx="859428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7"/>
          <p:cNvSpPr/>
          <p:nvPr/>
        </p:nvSpPr>
        <p:spPr>
          <a:xfrm>
            <a:off x="274320" y="3200400"/>
            <a:ext cx="85942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94a3b8"/>
                </a:solidFill>
                <a:latin typeface="Segoe UI"/>
                <a:ea typeface="Segoe UI"/>
              </a:rPr>
              <a:t>DYNAMIC STRATEGY MATRIX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85" name="Table 0"/>
          <p:cNvGraphicFramePr/>
          <p:nvPr/>
        </p:nvGraphicFramePr>
        <p:xfrm>
          <a:off x="274320" y="3429000"/>
          <a:ext cx="8595000" cy="1535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2560320"/>
                <a:gridCol w="1097280"/>
                <a:gridCol w="1280160"/>
              </a:tblGrid>
              <a:tr h="307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8bdf8"/>
                          </a:solidFill>
                          <a:latin typeface="Segoe UI"/>
                          <a:ea typeface="Segoe UI"/>
                        </a:rPr>
                        <a:t>Strategy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8111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8bdf8"/>
                          </a:solidFill>
                          <a:latin typeface="Segoe UI"/>
                          <a:ea typeface="Segoe UI"/>
                        </a:rPr>
                        <a:t>Timeframe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8111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8bdf8"/>
                          </a:solidFill>
                          <a:latin typeface="Segoe UI"/>
                          <a:ea typeface="Segoe UI"/>
                        </a:rPr>
                        <a:t>Lookback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8111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38bdf8"/>
                          </a:solidFill>
                          <a:latin typeface="Segoe UI"/>
                          <a:ea typeface="Segoe UI"/>
                        </a:rPr>
                        <a:t>Indicators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8111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f97316"/>
                          </a:solidFill>
                          <a:latin typeface="Segoe UI"/>
                          <a:ea typeface="Segoe UI"/>
                        </a:rPr>
                        <a:t>Stop Loss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8111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00" spc="-1" strike="noStrike">
                          <a:solidFill>
                            <a:srgbClr val="10b981"/>
                          </a:solidFill>
                          <a:latin typeface="Segoe UI"/>
                          <a:ea typeface="Segoe UI"/>
                        </a:rPr>
                        <a:t>Take Profit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8111f"/>
                    </a:solidFill>
                  </a:tcPr>
                </a:tc>
              </a:tr>
              <a:tr h="307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Intraday Scalp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15m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7 days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9-EMA, 21-EMA, RSI(14)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97316"/>
                          </a:solidFill>
                          <a:latin typeface="Segoe UI"/>
                          <a:ea typeface="Segoe UI"/>
                        </a:rPr>
                        <a:t>-1.0%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0b981"/>
                          </a:solidFill>
                          <a:latin typeface="Segoe UI"/>
                          <a:ea typeface="Segoe UI"/>
                        </a:rPr>
                        <a:t>+2.0%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</a:tr>
              <a:tr h="307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Intraday Swing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1h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30 days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9-EMA, 21-EMA, RSI(14)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97316"/>
                          </a:solidFill>
                          <a:latin typeface="Segoe UI"/>
                          <a:ea typeface="Segoe UI"/>
                        </a:rPr>
                        <a:t>-2.5%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0b981"/>
                          </a:solidFill>
                          <a:latin typeface="Segoe UI"/>
                          <a:ea typeface="Segoe UI"/>
                        </a:rPr>
                        <a:t>+5.0%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</a:tr>
              <a:tr h="307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Medium Swing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4h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60 days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50-MA, MACD, RSI(14)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97316"/>
                          </a:solidFill>
                          <a:latin typeface="Segoe UI"/>
                          <a:ea typeface="Segoe UI"/>
                        </a:rPr>
                        <a:t>-4.0%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0b981"/>
                          </a:solidFill>
                          <a:latin typeface="Segoe UI"/>
                          <a:ea typeface="Segoe UI"/>
                        </a:rPr>
                        <a:t>+8.0%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111c30"/>
                    </a:solidFill>
                  </a:tcPr>
                </a:tc>
              </a:tr>
              <a:tr h="3070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Macro Position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1d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180 days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e2e8f0"/>
                          </a:solidFill>
                          <a:latin typeface="Segoe UI"/>
                          <a:ea typeface="Segoe UI"/>
                        </a:rPr>
                        <a:t>50-MA, 200-MA, Macro RSI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f97316"/>
                          </a:solidFill>
                          <a:latin typeface="Segoe UI"/>
                          <a:ea typeface="Segoe UI"/>
                        </a:rPr>
                        <a:t>-8.0%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00" spc="-1" strike="noStrike">
                          <a:solidFill>
                            <a:srgbClr val="10b981"/>
                          </a:solidFill>
                          <a:latin typeface="Segoe UI"/>
                          <a:ea typeface="Segoe UI"/>
                        </a:rPr>
                        <a:t>+15.0%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1e3a5f"/>
                      </a:solidFill>
                      <a:prstDash val="solid"/>
                    </a:lnL>
                    <a:lnR w="12240">
                      <a:solidFill>
                        <a:srgbClr val="1e3a5f"/>
                      </a:solidFill>
                      <a:prstDash val="solid"/>
                    </a:lnR>
                    <a:lnT w="12240">
                      <a:solidFill>
                        <a:srgbClr val="1e3a5f"/>
                      </a:solidFill>
                      <a:prstDash val="solid"/>
                    </a:lnT>
                    <a:lnB w="12240">
                      <a:solidFill>
                        <a:srgbClr val="1e3a5f"/>
                      </a:solidFill>
                      <a:prstDash val="solid"/>
                    </a:lnB>
                    <a:solidFill>
                      <a:srgbClr val="0d1828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Frontend: The Operator Dashboard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2926080" y="749880"/>
            <a:ext cx="3290760" cy="254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3"/>
          <p:cNvSpPr/>
          <p:nvPr/>
        </p:nvSpPr>
        <p:spPr>
          <a:xfrm>
            <a:off x="2926080" y="749880"/>
            <a:ext cx="32907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UI IS THE WINDOW — BACKEND IS THE BRAIN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274320" y="1115640"/>
            <a:ext cx="8594280" cy="986400"/>
          </a:xfrm>
          <a:prstGeom prst="rect">
            <a:avLst/>
          </a:prstGeom>
          <a:solidFill>
            <a:srgbClr val="0a10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274320" y="1115640"/>
            <a:ext cx="63000" cy="986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502920" y="1225440"/>
            <a:ext cx="818280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e2e8f0"/>
                </a:solidFill>
                <a:latin typeface="Segoe UI"/>
                <a:ea typeface="Segoe UI"/>
              </a:rPr>
              <a:t>A Bloomberg-inspired, industrial-utilitarian single-page dashboard built with HTML5,  JavaScript, and Tailwind CSS — designed to surface agent intelligence, not to be the product.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274320" y="2231280"/>
            <a:ext cx="2028960" cy="27421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274320" y="2231280"/>
            <a:ext cx="63000" cy="2742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429840" y="2350080"/>
            <a:ext cx="17820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bdf8"/>
                </a:solidFill>
                <a:latin typeface="Segoe UI"/>
                <a:ea typeface="Segoe UI"/>
              </a:rPr>
              <a:t>Live SVG Candlestick Chart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429840" y="2761560"/>
            <a:ext cx="173628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429840" y="2853000"/>
            <a:ext cx="1782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Real-time  candles rendered in pure SVG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no external chart lib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Color-coded: green bull / orange bear bodies + wicks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2450520" y="2231280"/>
            <a:ext cx="2028960" cy="27421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2450520" y="2231280"/>
            <a:ext cx="63000" cy="2742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2606040" y="2350080"/>
            <a:ext cx="17820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0b981"/>
                </a:solidFill>
                <a:latin typeface="Segoe UI"/>
                <a:ea typeface="Segoe UI"/>
              </a:rPr>
              <a:t>Quick-Select Asset Badges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2606040" y="2761560"/>
            <a:ext cx="173628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6"/>
          <p:cNvSpPr/>
          <p:nvPr/>
        </p:nvSpPr>
        <p:spPr>
          <a:xfrm>
            <a:off x="2606040" y="2853000"/>
            <a:ext cx="1782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One-click stocks: AAPL, NVDA, TSLA, MSFT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One-click crypto: BTC-USD, ETH-USD, SOL-USD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Instantly loads ticker into the agent pipeline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7"/>
          <p:cNvSpPr/>
          <p:nvPr/>
        </p:nvSpPr>
        <p:spPr>
          <a:xfrm>
            <a:off x="4626720" y="2231280"/>
            <a:ext cx="2028960" cy="27421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8"/>
          <p:cNvSpPr/>
          <p:nvPr/>
        </p:nvSpPr>
        <p:spPr>
          <a:xfrm>
            <a:off x="4626720" y="2231280"/>
            <a:ext cx="63000" cy="2742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4782240" y="2350080"/>
            <a:ext cx="17820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97316"/>
                </a:solidFill>
                <a:latin typeface="Segoe UI"/>
                <a:ea typeface="Segoe UI"/>
              </a:rPr>
              <a:t>Agent Output Panel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20"/>
          <p:cNvSpPr/>
          <p:nvPr/>
        </p:nvSpPr>
        <p:spPr>
          <a:xfrm>
            <a:off x="4782240" y="2761560"/>
            <a:ext cx="173628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4782240" y="2853000"/>
            <a:ext cx="1782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Displays Manager + Analyst + Risk Manager output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APPROVED shown in green, REJECTED in red/orange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Live stop-loss, take-profit, and entry targets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2"/>
          <p:cNvSpPr/>
          <p:nvPr/>
        </p:nvSpPr>
        <p:spPr>
          <a:xfrm>
            <a:off x="6803280" y="2231280"/>
            <a:ext cx="2028960" cy="274212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6803280" y="2231280"/>
            <a:ext cx="63000" cy="2742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4"/>
          <p:cNvSpPr/>
          <p:nvPr/>
        </p:nvSpPr>
        <p:spPr>
          <a:xfrm>
            <a:off x="6958440" y="2350080"/>
            <a:ext cx="17820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Segoe UI"/>
                <a:ea typeface="Segoe UI"/>
              </a:rPr>
              <a:t>Secure Auth Portal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25"/>
          <p:cNvSpPr/>
          <p:nvPr/>
        </p:nvSpPr>
        <p:spPr>
          <a:xfrm>
            <a:off x="6958440" y="2761560"/>
            <a:ext cx="173628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6958440" y="2853000"/>
            <a:ext cx="1782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Full sign-up / login with bcrypt hashing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Pakistani/International phone regex validation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e2e8f0"/>
                </a:solidFill>
                <a:latin typeface="Segoe UI"/>
                <a:ea typeface="Segoe UI"/>
              </a:rPr>
              <a:t>Session-aware agents tied to authenticated user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365760" y="128160"/>
            <a:ext cx="841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Segoe UI"/>
                <a:ea typeface="Segoe UI"/>
              </a:rPr>
              <a:t>Cloud Deployment: Render</a:t>
            </a:r>
            <a:endParaRPr b="0" lang="en-US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"/>
          <p:cNvSpPr/>
          <p:nvPr/>
        </p:nvSpPr>
        <p:spPr>
          <a:xfrm>
            <a:off x="365760" y="612720"/>
            <a:ext cx="841140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365760" y="749880"/>
            <a:ext cx="2010600" cy="254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365760" y="749880"/>
            <a:ext cx="2010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b0f17"/>
                </a:solidFill>
                <a:latin typeface="Segoe UI"/>
                <a:ea typeface="Segoe UI"/>
              </a:rPr>
              <a:t>DEPLOYED ON RENDER.COM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228600" y="1143000"/>
            <a:ext cx="2787840" cy="37479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5"/>
          <p:cNvSpPr/>
          <p:nvPr/>
        </p:nvSpPr>
        <p:spPr>
          <a:xfrm>
            <a:off x="1344240" y="1261800"/>
            <a:ext cx="565920" cy="565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1344240" y="126180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b0f17"/>
                </a:solidFill>
                <a:latin typeface="Segoe UI"/>
                <a:ea typeface="Segoe UI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356760" y="1938600"/>
            <a:ext cx="25318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8bdf8"/>
                </a:solidFill>
                <a:latin typeface="Segoe UI"/>
                <a:ea typeface="Segoe UI"/>
              </a:rPr>
              <a:t>Build Command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8"/>
          <p:cNvSpPr/>
          <p:nvPr/>
        </p:nvSpPr>
        <p:spPr>
          <a:xfrm>
            <a:off x="393120" y="2322720"/>
            <a:ext cx="2458800" cy="401400"/>
          </a:xfrm>
          <a:prstGeom prst="rect">
            <a:avLst/>
          </a:prstGeom>
          <a:solidFill>
            <a:srgbClr val="000000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429840" y="2322720"/>
            <a:ext cx="2394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8bdf8"/>
                </a:solidFill>
                <a:latin typeface="Consolas"/>
                <a:ea typeface="Consolas"/>
              </a:rPr>
              <a:t>pip install -r requirements.txt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393120" y="2834640"/>
            <a:ext cx="24861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All deps pinned in requirements.txt / pyproject.toml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Python 3.12 runtime on Render infrastructure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Env vars (DB URL, API keys) injected via Render dashboard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3200400" y="1143000"/>
            <a:ext cx="2787840" cy="37479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12"/>
          <p:cNvSpPr/>
          <p:nvPr/>
        </p:nvSpPr>
        <p:spPr>
          <a:xfrm>
            <a:off x="4316040" y="1261800"/>
            <a:ext cx="565920" cy="565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13"/>
          <p:cNvSpPr/>
          <p:nvPr/>
        </p:nvSpPr>
        <p:spPr>
          <a:xfrm>
            <a:off x="4316040" y="126180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b0f17"/>
                </a:solidFill>
                <a:latin typeface="Segoe UI"/>
                <a:ea typeface="Segoe UI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4"/>
          <p:cNvSpPr/>
          <p:nvPr/>
        </p:nvSpPr>
        <p:spPr>
          <a:xfrm>
            <a:off x="3328560" y="1938600"/>
            <a:ext cx="25318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0b981"/>
                </a:solidFill>
                <a:latin typeface="Segoe UI"/>
                <a:ea typeface="Segoe UI"/>
              </a:rPr>
              <a:t>Start Command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5"/>
          <p:cNvSpPr/>
          <p:nvPr/>
        </p:nvSpPr>
        <p:spPr>
          <a:xfrm>
            <a:off x="3364920" y="2322720"/>
            <a:ext cx="2458800" cy="40140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3401640" y="2322720"/>
            <a:ext cx="2394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0b981"/>
                </a:solidFill>
                <a:latin typeface="Consolas"/>
                <a:ea typeface="Consolas"/>
              </a:rPr>
              <a:t>uvicorn main:app --host 0.0.0.0 --port $PORT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7"/>
          <p:cNvSpPr/>
          <p:nvPr/>
        </p:nvSpPr>
        <p:spPr>
          <a:xfrm>
            <a:off x="3364920" y="2834640"/>
            <a:ext cx="24861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FastAPI served via Uvicorn ASGI server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$PORT dynamically bound by Render at runtime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0.0.0.0 binding exposes service to the public web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>
            <a:off x="6172200" y="1143000"/>
            <a:ext cx="2787840" cy="374796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Shape 19"/>
          <p:cNvSpPr/>
          <p:nvPr/>
        </p:nvSpPr>
        <p:spPr>
          <a:xfrm>
            <a:off x="7287840" y="1261800"/>
            <a:ext cx="565920" cy="565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7287840" y="1261800"/>
            <a:ext cx="5659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b0f17"/>
                </a:solidFill>
                <a:latin typeface="Segoe UI"/>
                <a:ea typeface="Segoe UI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21"/>
          <p:cNvSpPr/>
          <p:nvPr/>
        </p:nvSpPr>
        <p:spPr>
          <a:xfrm>
            <a:off x="6300360" y="1938600"/>
            <a:ext cx="25318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97316"/>
                </a:solidFill>
                <a:latin typeface="Segoe UI"/>
                <a:ea typeface="Segoe UI"/>
              </a:rPr>
              <a:t>Cold Start Handling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22"/>
          <p:cNvSpPr/>
          <p:nvPr/>
        </p:nvSpPr>
        <p:spPr>
          <a:xfrm>
            <a:off x="6336720" y="2322720"/>
            <a:ext cx="2458800" cy="401400"/>
          </a:xfrm>
          <a:prstGeom prst="rect">
            <a:avLst/>
          </a:prstGeom>
          <a:solidFill>
            <a:srgbClr val="000000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6373440" y="2322720"/>
            <a:ext cx="23947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97316"/>
                </a:solidFill>
                <a:latin typeface="Consolas"/>
                <a:ea typeface="Consolas"/>
              </a:rPr>
              <a:t>Free tier spins down after 15 min idle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6336720" y="2834640"/>
            <a:ext cx="24861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First request causes ~30-60s spin-up delay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Startup runs idempotent DB migration on every boot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e2e8f0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e2e8f0"/>
                </a:solidFill>
                <a:latin typeface="Segoe UI"/>
                <a:ea typeface="Segoe UI"/>
              </a:rPr>
              <a:t>Two isolated connection blocks prevent transaction aborts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25"/>
          <p:cNvSpPr/>
          <p:nvPr/>
        </p:nvSpPr>
        <p:spPr>
          <a:xfrm>
            <a:off x="365760" y="4773240"/>
            <a:ext cx="8411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4a3b8"/>
                </a:solidFill>
                <a:latin typeface="Segoe UI"/>
                <a:ea typeface="Segoe UI"/>
              </a:rPr>
              <a:t>Neon PostgreSQL serverless connection pool handles Render container lifecycle gracefully on every cold start.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0" y="0"/>
            <a:ext cx="914292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Shape 1"/>
          <p:cNvSpPr/>
          <p:nvPr/>
        </p:nvSpPr>
        <p:spPr>
          <a:xfrm>
            <a:off x="0" y="5088600"/>
            <a:ext cx="9142920" cy="53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1371600" y="502920"/>
            <a:ext cx="6399720" cy="4159440"/>
          </a:xfrm>
          <a:prstGeom prst="rect">
            <a:avLst/>
          </a:prstGeom>
          <a:solidFill>
            <a:srgbClr val="131c2e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3"/>
          <p:cNvSpPr/>
          <p:nvPr/>
        </p:nvSpPr>
        <p:spPr>
          <a:xfrm>
            <a:off x="1371600" y="502920"/>
            <a:ext cx="63000" cy="4159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1554480" y="914400"/>
            <a:ext cx="60339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38bdf8"/>
                </a:solidFill>
                <a:latin typeface="Segoe UI"/>
                <a:ea typeface="Segoe UI"/>
              </a:rPr>
              <a:t>Thank You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2743200" y="1993320"/>
            <a:ext cx="365652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1554480" y="2103120"/>
            <a:ext cx="6033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2e8f0"/>
                </a:solidFill>
                <a:latin typeface="Segoe UI"/>
                <a:ea typeface="Segoe UI"/>
              </a:rPr>
              <a:t>Automated Multi-Agentic Trading System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7"/>
          <p:cNvSpPr/>
          <p:nvPr/>
        </p:nvSpPr>
        <p:spPr>
          <a:xfrm>
            <a:off x="1554480" y="2523600"/>
            <a:ext cx="6033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94a3b8"/>
                </a:solidFill>
                <a:latin typeface="Segoe UI"/>
                <a:ea typeface="Segoe UI"/>
              </a:rPr>
              <a:t>BSCS Final Year Project — Department of Computer Science &amp; Information Technology — (2022-26)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8"/>
          <p:cNvSpPr/>
          <p:nvPr/>
        </p:nvSpPr>
        <p:spPr>
          <a:xfrm>
            <a:off x="2743200" y="2907720"/>
            <a:ext cx="3656520" cy="21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1554480" y="3089520"/>
            <a:ext cx="6033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8f0"/>
                </a:solidFill>
                <a:latin typeface="Segoe UI"/>
                <a:ea typeface="Segoe UI"/>
              </a:rPr>
              <a:t>Ahmad Abdullah (COMPF22BSR43)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8f0"/>
                </a:solidFill>
                <a:latin typeface="Segoe UI"/>
                <a:ea typeface="Segoe UI"/>
              </a:rPr>
              <a:t>Abdul Qadeer Khan (COMPF22BSR47)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2e8f0"/>
                </a:solidFill>
                <a:latin typeface="Segoe UI"/>
                <a:ea typeface="Segoe UI"/>
              </a:rPr>
              <a:t>Faisal Rehman (COMPF22BSR29)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3108960" y="3637080"/>
            <a:ext cx="2925000" cy="748800"/>
          </a:xfrm>
          <a:prstGeom prst="rect">
            <a:avLst/>
          </a:prstGeom>
          <a:solidFill>
            <a:srgbClr val="0a1020"/>
          </a:solidFill>
          <a:ln w="1905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3108960" y="3601080"/>
            <a:ext cx="29250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Segoe UI"/>
                <a:ea typeface="Segoe UI"/>
              </a:rPr>
              <a:t>Any Questions &lt;3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2026-05-31T21:15:46Z</dcterms:created>
  <dc:creator>Abdul Qadeer Khan &amp; Ahmad Abdullah</dc:creator>
  <dc:description/>
  <dc:language>en-US</dc:language>
  <cp:lastModifiedBy/>
  <dcterms:modified xsi:type="dcterms:W3CDTF">2026-06-01T10:15:29Z</dcterms:modified>
  <cp:revision>9</cp:revision>
  <dc:subject>PptxGenJS Presentation</dc:subject>
  <dc:title>Automated: A Multi-Agentic Trading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